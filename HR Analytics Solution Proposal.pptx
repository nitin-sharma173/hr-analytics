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21C607-E20E-F9E0-9944-A34370BC28BE}"/>
              </a:ext>
            </a:extLst>
          </p:cNvPr>
          <p:cNvSpPr/>
          <p:nvPr/>
        </p:nvSpPr>
        <p:spPr>
          <a:xfrm>
            <a:off x="1498388" y="430610"/>
            <a:ext cx="962189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dirty="0"/>
              <a:t>HR Analytics Solution Proposal</a:t>
            </a:r>
            <a:endParaRPr lang="en-US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C46C9-EA4D-9DBA-D9DB-603FC7A09097}"/>
              </a:ext>
            </a:extLst>
          </p:cNvPr>
          <p:cNvSpPr txBox="1"/>
          <p:nvPr/>
        </p:nvSpPr>
        <p:spPr>
          <a:xfrm>
            <a:off x="3519948" y="2310581"/>
            <a:ext cx="4493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Atos</a:t>
            </a:r>
            <a:endParaRPr lang="en-IN" sz="5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5A937-AEC4-3BA1-545A-53C37468546F}"/>
              </a:ext>
            </a:extLst>
          </p:cNvPr>
          <p:cNvSpPr txBox="1"/>
          <p:nvPr/>
        </p:nvSpPr>
        <p:spPr>
          <a:xfrm>
            <a:off x="2694039" y="4434348"/>
            <a:ext cx="734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Presented By: Data Titans (Geeta Turkar &amp; Nitin Sharma)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30753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A1A3FF-3970-3F3C-8B46-559D2915F865}"/>
              </a:ext>
            </a:extLst>
          </p:cNvPr>
          <p:cNvSpPr/>
          <p:nvPr/>
        </p:nvSpPr>
        <p:spPr>
          <a:xfrm>
            <a:off x="4443337" y="135644"/>
            <a:ext cx="29317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Overview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011EE14-A560-71F5-70FE-1717E67F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174" y="1103106"/>
            <a:ext cx="85962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Analyzed HR data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250 employees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 2023 – April 2026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Transformed raw, unstructured data into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reliable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an </a:t>
            </a:r>
            <a:r>
              <a:rPr lang="en-US" altLang="en-US" b="1" dirty="0">
                <a:latin typeface="Arial" panose="020B0604020202020204" pitchFamily="34" charset="0"/>
              </a:rPr>
              <a:t>interactive Power BI dashboards</a:t>
            </a:r>
            <a:r>
              <a:rPr lang="en-US" altLang="en-US" dirty="0">
                <a:latin typeface="Arial" panose="020B0604020202020204" pitchFamily="34" charset="0"/>
              </a:rPr>
              <a:t> to monitor key HR metrics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Generated </a:t>
            </a:r>
            <a:r>
              <a:rPr lang="en-US" altLang="en-US" b="1" dirty="0">
                <a:latin typeface="Arial" panose="020B0604020202020204" pitchFamily="34" charset="0"/>
              </a:rPr>
              <a:t>actionable insights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data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enable efficient analysis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to drive data-informed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3896511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590ED8-B7D4-4D24-07A5-66D16BE1EDEF}"/>
              </a:ext>
            </a:extLst>
          </p:cNvPr>
          <p:cNvSpPr txBox="1"/>
          <p:nvPr/>
        </p:nvSpPr>
        <p:spPr>
          <a:xfrm>
            <a:off x="245805" y="828293"/>
            <a:ext cx="694157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centralized view of workforce metrics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Leadership unable to track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employees, salary, attrition, hiring trends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Decisions were based on fragmented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BC789-E95D-B92C-9710-A126992F71EB}"/>
              </a:ext>
            </a:extLst>
          </p:cNvPr>
          <p:cNvSpPr txBox="1"/>
          <p:nvPr/>
        </p:nvSpPr>
        <p:spPr>
          <a:xfrm>
            <a:off x="172062" y="2649092"/>
            <a:ext cx="118478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central HR KPI dashboard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showing: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Employees (250)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Attrition Rate (40%)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Avg Salary (697.8K annually)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Hiring trends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Department-wise employee distribution and gender split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5CD51-E9E5-646E-437C-9C5B96A0AB79}"/>
              </a:ext>
            </a:extLst>
          </p:cNvPr>
          <p:cNvSpPr txBox="1"/>
          <p:nvPr/>
        </p:nvSpPr>
        <p:spPr>
          <a:xfrm>
            <a:off x="245805" y="5102546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High attrition (40%) flagged as critical issue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department has highest workforce share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Hiring trends show growth but not retention balance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15001B-F543-8780-621D-16D412242B91}"/>
              </a:ext>
            </a:extLst>
          </p:cNvPr>
          <p:cNvSpPr/>
          <p:nvPr/>
        </p:nvSpPr>
        <p:spPr>
          <a:xfrm>
            <a:off x="3409718" y="0"/>
            <a:ext cx="53725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HR Analytics Overview</a:t>
            </a:r>
            <a:endParaRPr lang="en-US" sz="4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92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CA705B-CF3A-FDBF-5662-951DAB9A2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537759"/>
            <a:ext cx="10259857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7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657D44-22BE-EF33-B73E-16F3AA47C313}"/>
              </a:ext>
            </a:extLst>
          </p:cNvPr>
          <p:cNvSpPr txBox="1"/>
          <p:nvPr/>
        </p:nvSpPr>
        <p:spPr>
          <a:xfrm>
            <a:off x="137650" y="1171168"/>
            <a:ext cx="72070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High attrition but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 clarity on reasons or affected departments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HR unable to identify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who is leaving and why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EC1E6-245B-8BD3-A737-D7D34DC8184E}"/>
              </a:ext>
            </a:extLst>
          </p:cNvPr>
          <p:cNvSpPr txBox="1"/>
          <p:nvPr/>
        </p:nvSpPr>
        <p:spPr>
          <a:xfrm>
            <a:off x="137650" y="2397657"/>
            <a:ext cx="67154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attrition dashboard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Attrition by department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Gender-wise attrition split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Root cause analysis (Salary, Work-life balance, Opportunity)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Salary vs attrition 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3CEA-9E68-2D50-D1A4-C33159DF660A}"/>
              </a:ext>
            </a:extLst>
          </p:cNvPr>
          <p:cNvSpPr txBox="1"/>
          <p:nvPr/>
        </p:nvSpPr>
        <p:spPr>
          <a:xfrm>
            <a:off x="206476" y="4636359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has highest attrition (27 employees)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Female attrition slightly higher (52%)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reasons: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Salary (70.3%)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Work-life balance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DE217-063F-7948-C0CC-BB808DB9BDC2}"/>
              </a:ext>
            </a:extLst>
          </p:cNvPr>
          <p:cNvSpPr/>
          <p:nvPr/>
        </p:nvSpPr>
        <p:spPr>
          <a:xfrm>
            <a:off x="2492707" y="-26852"/>
            <a:ext cx="634295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Employee Attrition Analysis</a:t>
            </a:r>
          </a:p>
        </p:txBody>
      </p:sp>
    </p:spTree>
    <p:extLst>
      <p:ext uri="{BB962C8B-B14F-4D97-AF65-F5344CB8AC3E}">
        <p14:creationId xmlns:p14="http://schemas.microsoft.com/office/powerpoint/2010/main" val="211714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DD227-2C10-126A-A12D-9CF25AA4A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537759"/>
            <a:ext cx="10259857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97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482644-0834-751E-8A02-0974B72DBBE5}"/>
              </a:ext>
            </a:extLst>
          </p:cNvPr>
          <p:cNvSpPr/>
          <p:nvPr/>
        </p:nvSpPr>
        <p:spPr>
          <a:xfrm>
            <a:off x="1523068" y="0"/>
            <a:ext cx="82412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Attendance &amp; Absenteeism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9B2A0-60D6-8FEE-DFD5-7A206BD62EDC}"/>
              </a:ext>
            </a:extLst>
          </p:cNvPr>
          <p:cNvSpPr txBox="1"/>
          <p:nvPr/>
        </p:nvSpPr>
        <p:spPr>
          <a:xfrm>
            <a:off x="265471" y="998425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No tracking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employee attendance &amp; productivity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High absenteeism affecting operations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2C7E2-9BA0-874E-0284-470E8393DCD1}"/>
              </a:ext>
            </a:extLst>
          </p:cNvPr>
          <p:cNvSpPr txBox="1"/>
          <p:nvPr/>
        </p:nvSpPr>
        <p:spPr>
          <a:xfrm>
            <a:off x="336333" y="2323237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attendance dashboard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Attendance rate (58.48%)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Department-wise present &amp; absent days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Trend analysis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Gender-based attendance comparison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0EA48-474F-86F7-BFD3-C2777D2B31F9}"/>
              </a:ext>
            </a:extLst>
          </p:cNvPr>
          <p:cNvSpPr txBox="1"/>
          <p:nvPr/>
        </p:nvSpPr>
        <p:spPr>
          <a:xfrm>
            <a:off x="336333" y="4350377"/>
            <a:ext cx="739182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Attendance is low (~58%)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&amp; Operations show higher absenteeism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👉 Helps improve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workforce utilization &amp; policy enforcement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00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D5492B-1EEE-914C-919E-6DCC6DBB7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518706"/>
            <a:ext cx="10259857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C40CF2-9AD5-271D-98AD-F15E5AD1A684}"/>
              </a:ext>
            </a:extLst>
          </p:cNvPr>
          <p:cNvSpPr/>
          <p:nvPr/>
        </p:nvSpPr>
        <p:spPr>
          <a:xfrm>
            <a:off x="2125715" y="96316"/>
            <a:ext cx="79405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Employee Demographics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53214-3B26-A84F-37AE-1BA2B983AF4A}"/>
              </a:ext>
            </a:extLst>
          </p:cNvPr>
          <p:cNvSpPr txBox="1"/>
          <p:nvPr/>
        </p:nvSpPr>
        <p:spPr>
          <a:xfrm>
            <a:off x="216309" y="697693"/>
            <a:ext cx="711855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No visibility into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employee distribution, diversity, and structure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Difficult workforce planning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1BC0A-1ABE-5175-8E67-E3F5BF0E8E32}"/>
              </a:ext>
            </a:extLst>
          </p:cNvPr>
          <p:cNvSpPr txBox="1"/>
          <p:nvPr/>
        </p:nvSpPr>
        <p:spPr>
          <a:xfrm>
            <a:off x="216309" y="2324724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 showing: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Gender distribution (52.8% Female, 47.2% Male)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Department-wise employee count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Employment status (Active vs Exited)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Year-wise hiring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7C94E-95AC-4D45-E88C-DC5B685DA02B}"/>
              </a:ext>
            </a:extLst>
          </p:cNvPr>
          <p:cNvSpPr txBox="1"/>
          <p:nvPr/>
        </p:nvSpPr>
        <p:spPr>
          <a:xfrm>
            <a:off x="216309" y="4505754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💡 </a:t>
            </a:r>
            <a:r>
              <a:rPr lang="en-US" sz="2000" b="1" dirty="0"/>
              <a:t>Key Insights / Impact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Workforce fairly balanced gender-wise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65 employees exited → retention issue confirmed</a:t>
            </a:r>
            <a:br>
              <a:rPr lang="en-US" sz="2000" dirty="0"/>
            </a:br>
            <a:r>
              <a:rPr lang="en-US" sz="2000" dirty="0"/>
              <a:t>👉 Supports </a:t>
            </a:r>
            <a:r>
              <a:rPr lang="en-US" sz="2000" b="1" dirty="0"/>
              <a:t>diversity tracking &amp; workforce planning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620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895A3F-E4D1-2827-E87C-C0E53CB9A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494890"/>
            <a:ext cx="10259857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1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F34432-5144-4206-249A-5E937D78EC00}"/>
              </a:ext>
            </a:extLst>
          </p:cNvPr>
          <p:cNvSpPr/>
          <p:nvPr/>
        </p:nvSpPr>
        <p:spPr>
          <a:xfrm>
            <a:off x="1081577" y="0"/>
            <a:ext cx="9419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Employee Performance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3A236-1F28-DE4D-6659-C96738743048}"/>
              </a:ext>
            </a:extLst>
          </p:cNvPr>
          <p:cNvSpPr txBox="1"/>
          <p:nvPr/>
        </p:nvSpPr>
        <p:spPr>
          <a:xfrm>
            <a:off x="275303" y="992662"/>
            <a:ext cx="6096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structured way to track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performance ratings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Managers lacked visibility into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top vs low performers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3B92B-7FD1-FD2F-5E3E-C00F01F05280}"/>
              </a:ext>
            </a:extLst>
          </p:cNvPr>
          <p:cNvSpPr txBox="1"/>
          <p:nvPr/>
        </p:nvSpPr>
        <p:spPr>
          <a:xfrm>
            <a:off x="275303" y="2515813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rating by department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Performance distribution (Top, Average, Low)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Salary vs performance comparison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219984C-EBA5-F1F9-CF4F-9E34C988F3AB}"/>
              </a:ext>
            </a:extLst>
          </p:cNvPr>
          <p:cNvSpPr txBox="1"/>
          <p:nvPr/>
        </p:nvSpPr>
        <p:spPr>
          <a:xfrm>
            <a:off x="275303" y="4592962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Avg rating = 3.42 (moderate performance)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performers = ~50%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performers need training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👉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performance-driven HR strategies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596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65DC03-D720-7BBA-51B5-7ED0632DA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82" y="518706"/>
            <a:ext cx="10288436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27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33545A-3BC3-591E-AD1C-D664CB0970EB}"/>
              </a:ext>
            </a:extLst>
          </p:cNvPr>
          <p:cNvSpPr/>
          <p:nvPr/>
        </p:nvSpPr>
        <p:spPr>
          <a:xfrm>
            <a:off x="3792553" y="0"/>
            <a:ext cx="391863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Payroll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05F7C-5358-2D7E-E150-F808BAAA8608}"/>
              </a:ext>
            </a:extLst>
          </p:cNvPr>
          <p:cNvSpPr txBox="1"/>
          <p:nvPr/>
        </p:nvSpPr>
        <p:spPr>
          <a:xfrm>
            <a:off x="363793" y="707886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clarity 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salary distribution, payroll cost, and bonuses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Difficult to manage compensation planning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D9727-9985-99BE-B32A-6BE974A4843B}"/>
              </a:ext>
            </a:extLst>
          </p:cNvPr>
          <p:cNvSpPr txBox="1"/>
          <p:nvPr/>
        </p:nvSpPr>
        <p:spPr>
          <a:xfrm>
            <a:off x="363793" y="2465804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payroll cost (41M)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Avg salary (53.57K)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Department-wise salary breakdown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Bonus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D64C3-16AA-92FB-75C0-BA458E9E2F74}"/>
              </a:ext>
            </a:extLst>
          </p:cNvPr>
          <p:cNvSpPr txBox="1"/>
          <p:nvPr/>
        </p:nvSpPr>
        <p:spPr>
          <a:xfrm>
            <a:off x="363793" y="4777720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has highest payroll cost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Salary distribution relatively stable across departments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👉 Supports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budgeting &amp; compensation optimization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199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F15642-1AE9-72AF-F086-5C259FB31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19" y="494890"/>
            <a:ext cx="10297962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40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D651D6-B076-12A5-187F-6C8F7CC7C87F}"/>
              </a:ext>
            </a:extLst>
          </p:cNvPr>
          <p:cNvSpPr/>
          <p:nvPr/>
        </p:nvSpPr>
        <p:spPr>
          <a:xfrm>
            <a:off x="1850763" y="76651"/>
            <a:ext cx="83134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Recruitment Performance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D07AE-1760-C5C3-6C20-F53B98DD2270}"/>
              </a:ext>
            </a:extLst>
          </p:cNvPr>
          <p:cNvSpPr txBox="1"/>
          <p:nvPr/>
        </p:nvSpPr>
        <p:spPr>
          <a:xfrm>
            <a:off x="403122" y="784537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Inefficient hiring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No tracking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conversion funnel (Applied → Interviewed → Joined)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6F3F5-9CF1-0DF2-B1CE-019BFD1C9AE7}"/>
              </a:ext>
            </a:extLst>
          </p:cNvPr>
          <p:cNvSpPr txBox="1"/>
          <p:nvPr/>
        </p:nvSpPr>
        <p:spPr>
          <a:xfrm>
            <a:off x="275304" y="2546158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recruitment funnel dashboard: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Candidates applied, interviewed, offers made, joined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Department-wise hiring efficiency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118DD-000C-FED1-2F09-B427DE29399F}"/>
              </a:ext>
            </a:extLst>
          </p:cNvPr>
          <p:cNvSpPr txBox="1"/>
          <p:nvPr/>
        </p:nvSpPr>
        <p:spPr>
          <a:xfrm>
            <a:off x="275304" y="4584778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51 applied → 41 interviewed → 54 joined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Hiring process inconsistent across departments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👉 Improves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recruitment efficiency &amp; planning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024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46511-7F13-3B96-FD10-D69E55A94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494890"/>
            <a:ext cx="10317015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99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BF6A8B-7460-8069-C390-4EFC021C977D}"/>
              </a:ext>
            </a:extLst>
          </p:cNvPr>
          <p:cNvSpPr/>
          <p:nvPr/>
        </p:nvSpPr>
        <p:spPr>
          <a:xfrm>
            <a:off x="2032439" y="0"/>
            <a:ext cx="765517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Employee Training &amp; Completion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82139-A619-F811-27F2-0C745CE7E005}"/>
              </a:ext>
            </a:extLst>
          </p:cNvPr>
          <p:cNvSpPr txBox="1"/>
          <p:nvPr/>
        </p:nvSpPr>
        <p:spPr>
          <a:xfrm>
            <a:off x="422787" y="707886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tracking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employee training participation &amp; completion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Skill gaps not identified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93452C-9F5C-BC53-BA78-AC619830B23E}"/>
              </a:ext>
            </a:extLst>
          </p:cNvPr>
          <p:cNvSpPr txBox="1"/>
          <p:nvPr/>
        </p:nvSpPr>
        <p:spPr>
          <a:xfrm>
            <a:off x="422787" y="2446140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trainings (291)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Completion rate (64.95%)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Training types (Python, Excel, Leadership)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Department-wise completion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7036AF-7C54-99AB-22E4-5D46D1B63FFB}"/>
              </a:ext>
            </a:extLst>
          </p:cNvPr>
          <p:cNvSpPr txBox="1"/>
          <p:nvPr/>
        </p:nvSpPr>
        <p:spPr>
          <a:xfrm>
            <a:off x="422787" y="4769170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Training completion is moderate (~65%)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 &amp; Excel most popular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👉 Helps improve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learning &amp; development strategy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601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181F0D-8CD8-54AA-AA11-3A5B88BA1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485364"/>
            <a:ext cx="10364646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14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96A528-9B25-00E9-AAC7-80C15074500A}"/>
              </a:ext>
            </a:extLst>
          </p:cNvPr>
          <p:cNvSpPr/>
          <p:nvPr/>
        </p:nvSpPr>
        <p:spPr>
          <a:xfrm>
            <a:off x="3487064" y="0"/>
            <a:ext cx="53751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Salary vs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B8A96-0484-1FC5-D6EE-E8595E63A20B}"/>
              </a:ext>
            </a:extLst>
          </p:cNvPr>
          <p:cNvSpPr txBox="1"/>
          <p:nvPr/>
        </p:nvSpPr>
        <p:spPr>
          <a:xfrm>
            <a:off x="294968" y="707886"/>
            <a:ext cx="6096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🔴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clarity 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whether salary aligns with performance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66BC1-D416-40C4-1277-C5070B4FE53D}"/>
              </a:ext>
            </a:extLst>
          </p:cNvPr>
          <p:cNvSpPr txBox="1"/>
          <p:nvPr/>
        </p:nvSpPr>
        <p:spPr>
          <a:xfrm>
            <a:off x="363794" y="2143035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Combined dashboard showing: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Salary vs rating correlation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Performance category breakdown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FEDD29-3415-177F-C78E-231DE78EAD15}"/>
              </a:ext>
            </a:extLst>
          </p:cNvPr>
          <p:cNvSpPr txBox="1"/>
          <p:nvPr/>
        </p:nvSpPr>
        <p:spPr>
          <a:xfrm>
            <a:off x="439064" y="4132182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/ Impact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Avg salary: 53.57K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performers have highest rating (4.53)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Salary differences are minimal across performance levels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👉 Indicates need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performance-based pay structure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441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7EA95A-3453-26C8-E3F8-D3C626E6B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504417"/>
            <a:ext cx="10336067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89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AA55C6-BA59-A9BB-0CC6-C8FA2774F1A1}"/>
              </a:ext>
            </a:extLst>
          </p:cNvPr>
          <p:cNvSpPr txBox="1"/>
          <p:nvPr/>
        </p:nvSpPr>
        <p:spPr>
          <a:xfrm>
            <a:off x="294966" y="1021310"/>
            <a:ext cx="74135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🚀 Overall Impact</a:t>
            </a:r>
          </a:p>
          <a:p>
            <a:pPr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Reduced attrition through root cause insights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Improved hiring efficiency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Enabled data-driven HR decisions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Better workforce planning &amp; performance tracking </a:t>
            </a:r>
          </a:p>
        </p:txBody>
      </p:sp>
    </p:spTree>
    <p:extLst>
      <p:ext uri="{BB962C8B-B14F-4D97-AF65-F5344CB8AC3E}">
        <p14:creationId xmlns:p14="http://schemas.microsoft.com/office/powerpoint/2010/main" val="3776139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CCCDEB-5571-432D-D82F-EAF8F2A66292}"/>
              </a:ext>
            </a:extLst>
          </p:cNvPr>
          <p:cNvSpPr/>
          <p:nvPr/>
        </p:nvSpPr>
        <p:spPr>
          <a:xfrm>
            <a:off x="4094996" y="2033270"/>
            <a:ext cx="36480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943328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{919A797A-8089-4064-AC5D-E01F64164BE6}TFb5ae2469-0bae-4978-b0e0-39dd046150ff9a115ede-a9c3cc5252b0</Template>
  <TotalTime>154</TotalTime>
  <Words>756</Words>
  <Application>Microsoft Office PowerPoint</Application>
  <PresentationFormat>Widescreen</PresentationFormat>
  <Paragraphs>162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Sharma</dc:creator>
  <cp:lastModifiedBy>Nitin Sharma</cp:lastModifiedBy>
  <cp:revision>6</cp:revision>
  <dcterms:created xsi:type="dcterms:W3CDTF">2026-05-03T08:07:32Z</dcterms:created>
  <dcterms:modified xsi:type="dcterms:W3CDTF">2026-05-03T13:24:16Z</dcterms:modified>
</cp:coreProperties>
</file>